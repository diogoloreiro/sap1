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Apresentem-se e digam que vao mostrar o processador SAP-1, em 4 partes, por 3 integrantes.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Mostrem o roteiro: 4 partes. Pessoa 1 abre; Pessoa 2 cobre as partes 2 e 3 (componentes e controle); Pessoa 3 fecha com validacao e conclusao.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Comecem pelo objetivo: implementar o SAP-1, o processador mais simples que ainda e um computador de verdade. A ideia era entender, construindo, como um processador funciona por dentro - e rodar de verdade na placa.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Nossa estrategia teve quatro pilares: primeiro, modularizar - cada bloco virou um arquivo. Segundo, e o mais importante, controlar tudo por uma maquina de estados. Terceiro, verificar cada parte por simulacao. E so no fim ir pra placa. Essa ordem evitou erros.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 a arquitetura. No centro, o barramento por onde os dados passam. Em cima, busca e memoria. Embaixo, a aritmetica. E a direita, a unidade de controle - que e a nossa maquina de estados, o foco desta primeira 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funcionamento e organizado em 6 estados. Os tres primeiros sao a busca, sempre iguais: pegar a instrucao da memoria. Os tres ultimos sao a execucao. Quem controla essa sequencia e a maquina de estados.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 aqui esta a FSM. E um contador de anel que gira pelos estados T1 a T6 e volta ao T1 para a proxima instrucao. O reset a coloca no IDLE, e a instrucao HLT a congela no T4. Cada estado corresponde a uma acao. Passo para a Pessoa 2 mostrar os primeiros blocos.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PC e um contador simples: guarda o endereco da proxima instrucao. O sinal Cp faz ele incrementar, e o Ep coloca o valor no barramento. Ele e de 4 bits porque a memoria tem so 16 posicoes.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MAR e o elo com a memoria: ele segura o endereco que a RAM vai ler. Ele e carregado duas vezes por instrucao: no T1 recebe o PC, para buscar a instrucao; e no T4 recebe o operando, para buscar o 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memoria guarda 16 palavras de 8 bits, programa e dados juntos. Ponto que confunde: o operando de uma instrucao e um endereco, nao um valor. 'LDA 11' carrega o que esta no endereco 11. Isso e enderecamento direto.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Juntando os tres: na busca, o PC manda o endereco pro MAR (T1), o PC se incrementa (T2), e a RAM entrega a instrucao, que vai pro IR (T3). Esses tres passos sao iguais para toda instrucao. Sigo agora para a palavra de controle, que gera esses sinais.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sai da maquina de estados e a palavra de controle: 12 bits que, a cada estado, dizem o que cada bloco faz. Cada bit comanda um bloco. E o mais importante: ela depende so do estado e da instrucao, nunca do dado - por isso o comportamento e sempre previsivel.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pratica, a palavra escolhe quem fala e quem ouve no barramento. Ha cinco sinais de falar e cinco de ouvir. Um detalhe: alguns sao ativos em baixo, agem quando valem zero. Por isso o estado de repouso nao e tudo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tabela mostra as 'receitas' - a palavra de 12 bits de cada estado e a acao que ela produz. A busca (T1 a T3) e igual pra todas; a execucao (T4 a T6) muda conforme a instrucao. Da pra ler cada palavra comparando com o repouso.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Juntando tudo num exemplo: o ADD, estado por estado. Cada linha e uma palavra de controle em acao. Busca nos tres primeiros, acha o dado no T4, carrega o B no T5, e soma no T6. Passo para a Pessoa 3 mostrar como validamos tudo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implementacao, cada bloco virou um modulo Verilog. Tomamos cuidado com boas praticas: barramento por multiplexador, HLT por clock-enable em vez de desligar o clock, e um reset bem tratado. Isso deixou o projeto robusto e sintetizavel.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validar, nao confiamos so no olho: cada bloco tem um teste automatico que diz PASSOU ou FALHOU. Sao 14 testes, incluindo um que roda um programa inteiro e confere o resultado. Todos passam.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 roda de verdade na placa, com clock lento pra dar pra acompanhar. Os seis displays mostram o estado, a instrucao, o acumulador e o resultado. Da pra avancar passo a passo. Se possivel, facam a demonstracao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Testamos com quatro programas. Como o SAP-1 so soma e subtrai, fazemos multiplicacao com somas repetidas e divisao com subtracoes. Todos deram o resultado esperado, tanto na simulacao quanto na placa.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concluir: construimos um processador inteiro e entendemos tanto a arquitetura quanto o funcionamento. Verificamos com testes e validamos na placa. Como evolucao, daria pra adicionar escrita na memoria e desvios, chegando ao SAP-2.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Agradecam e abram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77240"/>
            <a:ext cx="10424160" cy="365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8FB8DE"/>
                </a:solidFill>
              </a:defRPr>
            </a:pPr>
            <a:r>
              <a:t>ARQUITETURA DE COMPUTADORES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17373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400"/>
              </a:spcAft>
              <a:defRPr sz="4800" b="1" i="0">
                <a:solidFill>
                  <a:srgbClr val="FFFFFF"/>
                </a:solidFill>
              </a:defRPr>
            </a:pPr>
            <a:r>
              <a:t>SAP-1 — Simple-As-Possible</a:t>
            </a:r>
          </a:p>
          <a:p>
            <a:pPr>
              <a:spcAft>
                <a:spcPts val="600"/>
              </a:spcAft>
              <a:defRPr sz="2000" b="0" i="0">
                <a:solidFill>
                  <a:srgbClr val="C7DDF0"/>
                </a:solidFill>
              </a:defRPr>
            </a:pPr>
            <a:r>
              <a:t>Arquitetura e implementação de um processador de 8 bits em Verilog · FPGA DE10-Lite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977639"/>
            <a:ext cx="3840480" cy="4114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206240"/>
            <a:ext cx="10515600" cy="1554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500"/>
              </a:spcAft>
              <a:defRPr sz="1800" b="0" i="0">
                <a:solidFill>
                  <a:srgbClr val="FFFFFF"/>
                </a:solidFill>
              </a:defRPr>
            </a:pPr>
            <a:r>
              <a:t>Integrante 1  ·  [nome]</a:t>
            </a:r>
          </a:p>
          <a:p>
            <a:pPr>
              <a:spcAft>
                <a:spcPts val="500"/>
              </a:spcAft>
              <a:defRPr sz="1800" b="0" i="0">
                <a:solidFill>
                  <a:srgbClr val="FFFFFF"/>
                </a:solidFill>
              </a:defRPr>
            </a:pPr>
            <a:r>
              <a:t>Integrante 2  ·  [nome]</a:t>
            </a:r>
          </a:p>
          <a:p>
            <a:pPr>
              <a:spcAft>
                <a:spcPts val="500"/>
              </a:spcAft>
              <a:defRPr sz="1800" b="0" i="0">
                <a:solidFill>
                  <a:srgbClr val="FFFFFF"/>
                </a:solidFill>
              </a:defRPr>
            </a:pPr>
            <a:r>
              <a:t>Integrante 3  ·  [nome]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126480"/>
            <a:ext cx="105156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400" b="0" i="0">
                <a:solidFill>
                  <a:srgbClr val="9FB6CC"/>
                </a:solidFill>
              </a:defRPr>
            </a:pPr>
            <a:r>
              <a:t>[Instituição] · [Curso]   · 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>
              <a:spcAft>
                <a:spcPts val="0"/>
              </a:spcAft>
              <a:defRPr sz="2800" b="1" i="0">
                <a:solidFill>
                  <a:srgbClr val="FFFFFF"/>
                </a:solidFill>
              </a:defRPr>
            </a:pPr>
            <a:r>
              <a:t>Sumário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622727" cy="452628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622727" cy="9144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09928"/>
            <a:ext cx="2256967" cy="777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100" b="1" i="0">
                <a:solidFill>
                  <a:srgbClr val="FFFFFF"/>
                </a:solidFill>
              </a:defRPr>
            </a:pPr>
            <a:r>
              <a:t>PARTE 1</a:t>
            </a:r>
          </a:p>
          <a:p>
            <a:pPr>
              <a:spcAft>
                <a:spcPts val="0"/>
              </a:spcAft>
              <a:defRPr sz="1450" b="1" i="0">
                <a:solidFill>
                  <a:srgbClr val="FFFFFF"/>
                </a:solidFill>
              </a:defRPr>
            </a:pPr>
            <a:r>
              <a:t>Objetivo e FSM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2256967" cy="28346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1B2631"/>
                </a:solidFill>
              </a:defRPr>
            </a:pPr>
            <a:r>
              <a:t>•  Objetivo do trabalho</a:t>
            </a:r>
          </a:p>
          <a:p>
            <a:pPr>
              <a:spcAft>
                <a:spcPts val="600"/>
              </a:spcAft>
              <a:defRPr sz="1200" b="0" i="0">
                <a:solidFill>
                  <a:srgbClr val="1B2631"/>
                </a:solidFill>
              </a:defRPr>
            </a:pPr>
            <a:r>
              <a:t>•  Nossa abordagem</a:t>
            </a:r>
          </a:p>
          <a:p>
            <a:pPr>
              <a:spcAft>
                <a:spcPts val="600"/>
              </a:spcAft>
              <a:defRPr sz="1200" b="0" i="0">
                <a:solidFill>
                  <a:srgbClr val="1B2631"/>
                </a:solidFill>
              </a:defRPr>
            </a:pPr>
            <a:r>
              <a:t>•  Arquitetura (datapath)</a:t>
            </a:r>
          </a:p>
          <a:p>
            <a:pPr>
              <a:spcAft>
                <a:spcPts val="600"/>
              </a:spcAft>
              <a:defRPr sz="1200" b="0" i="0">
                <a:solidFill>
                  <a:srgbClr val="1B2631"/>
                </a:solidFill>
              </a:defRPr>
            </a:pPr>
            <a:r>
              <a:t>•  Ciclo e máquina de estados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623560"/>
            <a:ext cx="2256967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250" b="1" i="0">
                <a:solidFill>
                  <a:srgbClr val="1565C0"/>
                </a:solidFill>
              </a:defRPr>
            </a:pPr>
            <a:r>
              <a:t>Pessoa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2535" y="1600200"/>
            <a:ext cx="2622727" cy="452628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72535" y="1600200"/>
            <a:ext cx="2622727" cy="914400"/>
          </a:xfrm>
          <a:prstGeom prst="round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5415" y="1709928"/>
            <a:ext cx="2256967" cy="777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100" b="1" i="0">
                <a:solidFill>
                  <a:srgbClr val="FFFFFF"/>
                </a:solidFill>
              </a:defRPr>
            </a:pPr>
            <a:r>
              <a:t>PARTE 2</a:t>
            </a:r>
          </a:p>
          <a:p>
            <a:pPr>
              <a:spcAft>
                <a:spcPts val="0"/>
              </a:spcAft>
              <a:defRPr sz="1450" b="1" i="0">
                <a:solidFill>
                  <a:srgbClr val="FFFFFF"/>
                </a:solidFill>
              </a:defRPr>
            </a:pPr>
            <a:r>
              <a:t>Program Counter e 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3703" y="2697480"/>
            <a:ext cx="2256967" cy="28346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1B2631"/>
                </a:solidFill>
              </a:defRPr>
            </a:pPr>
            <a:r>
              <a:t>•  Program Counter (PC)</a:t>
            </a:r>
          </a:p>
          <a:p>
            <a:pPr>
              <a:spcAft>
                <a:spcPts val="600"/>
              </a:spcAft>
              <a:defRPr sz="1200" b="0" i="0">
                <a:solidFill>
                  <a:srgbClr val="1B2631"/>
                </a:solidFill>
              </a:defRPr>
            </a:pPr>
            <a:r>
              <a:t>•  MAR — endereço</a:t>
            </a:r>
          </a:p>
          <a:p>
            <a:pPr>
              <a:spcAft>
                <a:spcPts val="600"/>
              </a:spcAft>
              <a:defRPr sz="1200" b="0" i="0">
                <a:solidFill>
                  <a:srgbClr val="1B2631"/>
                </a:solidFill>
              </a:defRPr>
            </a:pPr>
            <a:r>
              <a:t>•  Memória RAM 16×8</a:t>
            </a:r>
          </a:p>
          <a:p>
            <a:pPr>
              <a:spcAft>
                <a:spcPts val="600"/>
              </a:spcAft>
              <a:defRPr sz="1200" b="0" i="0">
                <a:solidFill>
                  <a:srgbClr val="1B2631"/>
                </a:solidFill>
              </a:defRPr>
            </a:pPr>
            <a:r>
              <a:t>•  Ciclo de busca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3703" y="5623560"/>
            <a:ext cx="2256967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250" b="1" i="0">
                <a:solidFill>
                  <a:srgbClr val="00838F"/>
                </a:solidFill>
              </a:defRPr>
            </a:pPr>
            <a:r>
              <a:t>Pessoa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6431" y="1600200"/>
            <a:ext cx="2622727" cy="452628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96431" y="1600200"/>
            <a:ext cx="2622727" cy="914400"/>
          </a:xfrm>
          <a:prstGeom prst="round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9311" y="1709928"/>
            <a:ext cx="2256967" cy="777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100" b="1" i="0">
                <a:solidFill>
                  <a:srgbClr val="FFFFFF"/>
                </a:solidFill>
              </a:defRPr>
            </a:pPr>
            <a:r>
              <a:t>PARTE 3</a:t>
            </a:r>
          </a:p>
          <a:p>
            <a:pPr>
              <a:spcAft>
                <a:spcPts val="0"/>
              </a:spcAft>
              <a:defRPr sz="1450" b="1" i="0">
                <a:solidFill>
                  <a:srgbClr val="FFFFFF"/>
                </a:solidFill>
              </a:defRPr>
            </a:pPr>
            <a:r>
              <a:t>Palavra de controle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7599" y="2697480"/>
            <a:ext cx="2256967" cy="28346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1B2631"/>
                </a:solidFill>
              </a:defRPr>
            </a:pPr>
            <a:r>
              <a:t>•  Os 12 sinais de controle</a:t>
            </a:r>
          </a:p>
          <a:p>
            <a:pPr>
              <a:spcAft>
                <a:spcPts val="600"/>
              </a:spcAft>
              <a:defRPr sz="1200" b="0" i="0">
                <a:solidFill>
                  <a:srgbClr val="1B2631"/>
                </a:solidFill>
              </a:defRPr>
            </a:pPr>
            <a:r>
              <a:t>•  Falar e ouvir</a:t>
            </a:r>
          </a:p>
          <a:p>
            <a:pPr>
              <a:spcAft>
                <a:spcPts val="600"/>
              </a:spcAft>
              <a:defRPr sz="1200" b="0" i="0">
                <a:solidFill>
                  <a:srgbClr val="1B2631"/>
                </a:solidFill>
              </a:defRPr>
            </a:pPr>
            <a:r>
              <a:t>•  Palavras por estado</a:t>
            </a:r>
          </a:p>
          <a:p>
            <a:pPr>
              <a:spcAft>
                <a:spcPts val="600"/>
              </a:spcAft>
              <a:defRPr sz="1200" b="0" i="0">
                <a:solidFill>
                  <a:srgbClr val="1B2631"/>
                </a:solidFill>
              </a:defRPr>
            </a:pPr>
            <a:r>
              <a:t>•  Exemplo: ADD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7599" y="5623560"/>
            <a:ext cx="2256967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250" b="1" i="0">
                <a:solidFill>
                  <a:srgbClr val="00838F"/>
                </a:solidFill>
              </a:defRPr>
            </a:pPr>
            <a:r>
              <a:t>Pessoa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0327" y="1600200"/>
            <a:ext cx="2622727" cy="452628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20327" y="1600200"/>
            <a:ext cx="2622727" cy="914400"/>
          </a:xfrm>
          <a:prstGeom prst="round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3207" y="1709928"/>
            <a:ext cx="2256967" cy="777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100" b="1" i="0">
                <a:solidFill>
                  <a:srgbClr val="FFFFFF"/>
                </a:solidFill>
              </a:defRPr>
            </a:pPr>
            <a:r>
              <a:t>PARTE 4</a:t>
            </a:r>
          </a:p>
          <a:p>
            <a:pPr>
              <a:spcAft>
                <a:spcPts val="0"/>
              </a:spcAft>
              <a:defRPr sz="1450" b="1" i="0">
                <a:solidFill>
                  <a:srgbClr val="FFFFFF"/>
                </a:solidFill>
              </a:defRPr>
            </a:pPr>
            <a:r>
              <a:t>Validação e conclusão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1495" y="2697480"/>
            <a:ext cx="2256967" cy="28346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1B2631"/>
                </a:solidFill>
              </a:defRPr>
            </a:pPr>
            <a:r>
              <a:t>•  Implementação em Verilog</a:t>
            </a:r>
          </a:p>
          <a:p>
            <a:pPr>
              <a:spcAft>
                <a:spcPts val="600"/>
              </a:spcAft>
              <a:defRPr sz="1200" b="0" i="0">
                <a:solidFill>
                  <a:srgbClr val="1B2631"/>
                </a:solidFill>
              </a:defRPr>
            </a:pPr>
            <a:r>
              <a:t>•  Verificação (testbenches)</a:t>
            </a:r>
          </a:p>
          <a:p>
            <a:pPr>
              <a:spcAft>
                <a:spcPts val="600"/>
              </a:spcAft>
              <a:defRPr sz="1200" b="0" i="0">
                <a:solidFill>
                  <a:srgbClr val="1B2631"/>
                </a:solidFill>
              </a:defRPr>
            </a:pPr>
            <a:r>
              <a:t>•  Placa e programas</a:t>
            </a:r>
          </a:p>
          <a:p>
            <a:pPr>
              <a:spcAft>
                <a:spcPts val="600"/>
              </a:spcAft>
              <a:defRPr sz="1200" b="0" i="0">
                <a:solidFill>
                  <a:srgbClr val="1B2631"/>
                </a:solidFill>
              </a:defRPr>
            </a:pPr>
            <a:r>
              <a:t>•  Conclusão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1495" y="5623560"/>
            <a:ext cx="2256967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250" b="1" i="0">
                <a:solidFill>
                  <a:srgbClr val="E65C00"/>
                </a:solidFill>
              </a:defRPr>
            </a:pPr>
            <a:r>
              <a:t>Pessoa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02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10058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600" b="1" i="0">
                <a:solidFill>
                  <a:srgbClr val="FFFFFF"/>
                </a:solidFill>
              </a:defRPr>
            </a:pPr>
            <a:r>
              <a:t>PARTE 1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424160" cy="11887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4000" b="1" i="0">
                <a:solidFill>
                  <a:srgbClr val="FFFFFF"/>
                </a:solidFill>
              </a:defRPr>
            </a:pPr>
            <a:r>
              <a:t>Objetivo e FSM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11880"/>
            <a:ext cx="32918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840480"/>
            <a:ext cx="10058400" cy="20116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O objetivo do trabalho e nossa abordagem</a:t>
            </a:r>
          </a:p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A arquitetura que implementamos</a:t>
            </a:r>
          </a:p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O ciclo de instrução (6 estados)</a:t>
            </a:r>
          </a:p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A máquina de estados (FSM)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10058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EEEEEE"/>
                </a:solidFill>
              </a:defRPr>
            </a:pPr>
            <a:r>
              <a:t>Apresenta: Pessoa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INTRODUÇÃO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Objetivo do trabalho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Implementar o processador SAP-1 (do Malvino) em Verilog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Processador didático de 8 bits, com 5 instruções, arquitetura de Von Neumann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Entender, na prática, como um computador busca e executa instruções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Sintetizar e rodar na FPGA DE10-Lite, com saída visível nos displays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658368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623560"/>
            <a:ext cx="109728" cy="65836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669280"/>
            <a:ext cx="1042416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>
              <a:spcAft>
                <a:spcPts val="0"/>
              </a:spcAft>
              <a:defRPr sz="1500" b="1" i="0">
                <a:solidFill>
                  <a:srgbClr val="0D3B66"/>
                </a:solidFill>
              </a:defRPr>
            </a:pPr>
            <a:r>
              <a:t>Chave:  Construir um processador do zero para entender como um computador funciona.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04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Nossa abordagem — como pensamos o trabalho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Dividir o processador em módulos: um bloco = um arquivo Verilog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Controlar tudo com uma MÁQUINA DE ESTADOS (FSM):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a FSM percorre os passos de cada instrução e comanda os blocos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Verificar cada parte por simulação antes de juntar (testbenches)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Só então sintetizar e testar na placa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658368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623560"/>
            <a:ext cx="109728" cy="65836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669280"/>
            <a:ext cx="1042416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>
              <a:spcAft>
                <a:spcPts val="0"/>
              </a:spcAft>
              <a:defRPr sz="1500" b="1" i="0">
                <a:solidFill>
                  <a:srgbClr val="0D3B66"/>
                </a:solidFill>
              </a:defRPr>
            </a:pPr>
            <a:r>
              <a:t>Chave:  Modularizar + controlar por FSM + verificar em cada etapa.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05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A arquitetura que implementamos</a:t>
            </a:r>
          </a:p>
        </p:txBody>
      </p:sp>
      <p:pic>
        <p:nvPicPr>
          <p:cNvPr id="6" name="Picture 5" descr="data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055" y="1371600"/>
            <a:ext cx="8109585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spcAft>
                <a:spcPts val="0"/>
              </a:spcAft>
              <a:defRPr sz="1300" b="0" i="1">
                <a:solidFill>
                  <a:srgbClr val="5A636E"/>
                </a:solidFill>
              </a:defRPr>
            </a:pPr>
            <a:r>
              <a:t>Blocos ligados ao barramento W; a Unidade de Controle (a FSM) gera os sinais que coordenam tudo.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06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FUNCIONAMENTO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O ciclo de instrução — 6 estados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Toda instrução é executada em 6 estados de tempo: T1 a T6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Ciclo de BUSCA (T1–T3) — igual para toda instrução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T1: MAR ← PC   ·   T2: PC ← PC+1   ·   T3: IR ← RAM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Ciclo de EXECUÇÃO (T4–T6) — depende da instrução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É a FSM que percorre esses estados e decide o que fazer em cada 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658368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623560"/>
            <a:ext cx="109728" cy="65836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669280"/>
            <a:ext cx="1042416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>
              <a:spcAft>
                <a:spcPts val="0"/>
              </a:spcAft>
              <a:defRPr sz="1500" b="1" i="0">
                <a:solidFill>
                  <a:srgbClr val="0D3B66"/>
                </a:solidFill>
              </a:defRPr>
            </a:pPr>
            <a:r>
              <a:t>Chave:  6 estados por instrução: busca (T1–T3) + execução (T4–T6).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07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CONTROLE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A máquina de estados (FSM)</a:t>
            </a:r>
          </a:p>
        </p:txBody>
      </p:sp>
      <p:pic>
        <p:nvPicPr>
          <p:cNvPr id="6" name="Picture 5" descr="fsm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721" y="1371600"/>
            <a:ext cx="5174253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spcAft>
                <a:spcPts val="0"/>
              </a:spcAft>
              <a:defRPr sz="1300" b="0" i="1">
                <a:solidFill>
                  <a:srgbClr val="5A636E"/>
                </a:solidFill>
              </a:defRPr>
            </a:pPr>
            <a:r>
              <a:t>Contador de anel IDLE → T1 → … → T6 → T1. O reset entra em IDLE; o HLT congela em T4.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08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10058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600" b="1" i="0">
                <a:solidFill>
                  <a:srgbClr val="FFFFFF"/>
                </a:solidFill>
              </a:defRPr>
            </a:pPr>
            <a:r>
              <a:t>PARTE 2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424160" cy="11887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4000" b="1" i="0">
                <a:solidFill>
                  <a:srgbClr val="FFFFFF"/>
                </a:solidFill>
              </a:defRPr>
            </a:pPr>
            <a:r>
              <a:t>Program Counter e Memória 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11880"/>
            <a:ext cx="32918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840480"/>
            <a:ext cx="10058400" cy="20116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O Program Counter (PC)</a:t>
            </a:r>
          </a:p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O MAR — registrador de endereço</a:t>
            </a:r>
          </a:p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A memória RAM 16×8</a:t>
            </a:r>
          </a:p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Como eles trabalham juntos na busca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10058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EEEEEE"/>
                </a:solidFill>
              </a:defRPr>
            </a:pPr>
            <a:r>
              <a:t>Apresenta: Pessoa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COMPONENTE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Program Counter (PC)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Contador de 4 bits que guarda o endereço da PRÓXIMA instrução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Sinal Cp: incrementa o PC (+1) na borda de subida do clock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Sinal Ep: coloca o valor do PC no barramento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No T2 de toda instrução, o Cp é ativado → o PC já aponta para a seguinte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É de 4 bits porque a memória só tem 16 posições (0–15)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658368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623560"/>
            <a:ext cx="109728" cy="65836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669280"/>
            <a:ext cx="1042416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>
              <a:spcAft>
                <a:spcPts val="0"/>
              </a:spcAft>
              <a:defRPr sz="1500" b="1" i="0">
                <a:solidFill>
                  <a:srgbClr val="0D3B66"/>
                </a:solidFill>
              </a:defRPr>
            </a:pPr>
            <a:r>
              <a:t>Chave:  O PC é quem diz 'qual é a próxima instrução'.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COMPONENTE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MAR — Registrador de Endereço de Memória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6634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Guarda o endereço de 4 bits que a RAM vai ler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Carregado do barramento quando ~Lm está ativo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É o 'elo' entre o processador e a memória: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T1: recebe o PC (para buscar a instrução)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T4: recebe o operando do IR (para buscar o dado)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COMPONENTE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Memória RAM 16×8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16 posições de 8 bits; guarda PROGRAMA e DADOS juntos (Von Neumann)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Somente leitura durante a execução (não há instrução de escrita, STA)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Cada palavra:  [ opcode (4 bits) | operando (4 bits) ]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O operando é um ENDEREÇO, não um valor → endereçamento direto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Ex.: 'LDA 11' carrega o conteúdo do endereço 11, não o número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658368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623560"/>
            <a:ext cx="109728" cy="65836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669280"/>
            <a:ext cx="1042416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>
              <a:spcAft>
                <a:spcPts val="0"/>
              </a:spcAft>
              <a:defRPr sz="1500" b="1" i="0">
                <a:solidFill>
                  <a:srgbClr val="0D3B66"/>
                </a:solidFill>
              </a:defRPr>
            </a:pPr>
            <a:r>
              <a:t>Chave:  O número na instrução é 'onde está', não 'o quê' (endereçamento direto).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FUNCIONAMENTO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Como PC, MAR e RAM trabalham na busca (T1–T3)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645920"/>
          <a:ext cx="1014984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035040"/>
                <a:gridCol w="2468880"/>
              </a:tblGrid>
              <a:tr h="1143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Ação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Sinais ativos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T1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MAR ← PC (endereço da instrução)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Ep, ~Lm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T2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PC ← PC + 1 (aponta para a próxima)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Cp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T3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IR ← RAM (lê a instrução da memória)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~CE, ~Li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10058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600" b="1" i="0">
                <a:solidFill>
                  <a:srgbClr val="FFFFFF"/>
                </a:solidFill>
              </a:defRPr>
            </a:pPr>
            <a:r>
              <a:t>PARTE 3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424160" cy="11887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4000" b="1" i="0">
                <a:solidFill>
                  <a:srgbClr val="FFFFFF"/>
                </a:solidFill>
              </a:defRPr>
            </a:pPr>
            <a:r>
              <a:t>Palavra de Controle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11880"/>
            <a:ext cx="32918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840480"/>
            <a:ext cx="10058400" cy="20116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Os 12 sinais de controle</a:t>
            </a:r>
          </a:p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Falar e ouvir no barramento</a:t>
            </a:r>
          </a:p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As palavras de controle por estado</a:t>
            </a:r>
          </a:p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Exemplo: execução do ADD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10058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EEEEEE"/>
                </a:solidFill>
              </a:defRPr>
            </a:pPr>
            <a:r>
              <a:t>Apresenta: Pessoa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CONTROLE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A palavra de controle (12 bits)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A cada estado, a FSM gera 12 sinais de uma vez — a palavra CON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Cada bit liga/desliga um bloco (falar ou ouvir no barramento)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CON = { Cp, Ep, ~Lm, ~CE, ~Li, ~Ei, ~La, Ea, Su, Eu, ~Lb, ~Lo }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Depende APENAS do estado e do opcode — nunca do dado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Por isso o processador é determinístico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658368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623560"/>
            <a:ext cx="109728" cy="65836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669280"/>
            <a:ext cx="1042416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>
              <a:spcAft>
                <a:spcPts val="0"/>
              </a:spcAft>
              <a:defRPr sz="1500" b="1" i="0">
                <a:solidFill>
                  <a:srgbClr val="0D3B66"/>
                </a:solidFill>
              </a:defRPr>
            </a:pPr>
            <a:r>
              <a:t>Chave:  A palavra de controle é a 'receita' de cada estado.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CONTROLE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Falar e ouvir no barramento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Cada estado escolhe UM bloco que fala e UM ou mais que ouvem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Falam: Ep (PC) · ~CE (RAM) · ~Ei (operando) · Ea (A) · Eu (ULA)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Ouvem: ~Lm (MAR) · ~Li (IR) · ~La (A) · ~Lb (B) · ~Lo (saída)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Sinais ativos-ALTO (1=liga): Cp Ep Ea Su Eu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Sinais ativos-BAIXO (0=liga): os com til (~)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Repouso (IDLE) = 0011_1110_0011 — nada ativo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658368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623560"/>
            <a:ext cx="109728" cy="65836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669280"/>
            <a:ext cx="1042416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>
              <a:spcAft>
                <a:spcPts val="0"/>
              </a:spcAft>
              <a:defRPr sz="1500" b="1" i="0">
                <a:solidFill>
                  <a:srgbClr val="0D3B66"/>
                </a:solidFill>
              </a:defRPr>
            </a:pPr>
            <a:r>
              <a:t>Chave:  Um fala, um ou mais ouvem — a cada estado.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CONTROLE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As palavras de controle por estado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645920"/>
          <a:ext cx="1014984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3566160"/>
              </a:tblGrid>
              <a:tr h="508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CON (12 bits)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Ação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T1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0101_1110_0011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MAR ← 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T2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1011_1110_0011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PC ← PC+1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T3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0010_0110_0011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IR ← 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T4 (LDA/ADD/SUB)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0001_1010_0011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MAR ← operando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T5 (LDA)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0010_1100_0011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A ← 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T5 (ADD/SUB)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0010_1110_0001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B ← RAM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T6 (ADD)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0011_1100_0111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A ← A+B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T6 (SUB)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0011_1100_1111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A ← A−B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FUNCIONAMENTO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Exemplo: execução do ADD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645920"/>
          <a:ext cx="1014984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108960"/>
                <a:gridCol w="5394960"/>
              </a:tblGrid>
              <a:tr h="65314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Sinais ativos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Transferência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T1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Ep, ~Lm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MAR ← 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T2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Cp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PC ← PC+1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T3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~CE, ~Li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IR ← RAM (instrução ADD)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T4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~Ei, ~Lm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MAR ← operando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T5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~CE, ~Lb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B ← RAM (o dado)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T6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Eu, ~La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A ← A + B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10058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600" b="1" i="0">
                <a:solidFill>
                  <a:srgbClr val="FFFFFF"/>
                </a:solidFill>
              </a:defRPr>
            </a:pPr>
            <a:r>
              <a:t>PARTE 4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424160" cy="11887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4000" b="1" i="0">
                <a:solidFill>
                  <a:srgbClr val="FFFFFF"/>
                </a:solidFill>
              </a:defRPr>
            </a:pPr>
            <a:r>
              <a:t>Validação e Conclusão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11880"/>
            <a:ext cx="32918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840480"/>
            <a:ext cx="10058400" cy="20116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Implementação em Verilog</a:t>
            </a:r>
          </a:p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Verificação por simulação</a:t>
            </a:r>
          </a:p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Execução na placa e programas testados</a:t>
            </a:r>
          </a:p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Conclusão e trabalhos futuros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10058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EEEEEE"/>
                </a:solidFill>
              </a:defRPr>
            </a:pPr>
            <a:r>
              <a:t>Apresenta: Pessoa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IMPLEMENTAÇÃO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Implementação em Verilog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318607" cy="221742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318607" cy="10972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91640"/>
            <a:ext cx="4916271" cy="18516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0D3B66"/>
                </a:solidFill>
              </a:defRPr>
            </a:pPr>
            <a:r>
              <a:t>11 módulos</a:t>
            </a:r>
          </a:p>
          <a:p>
            <a:pPr>
              <a:spcAft>
                <a:spcPts val="0"/>
              </a:spcAft>
              <a:defRPr sz="1400" b="0" i="0">
                <a:solidFill>
                  <a:srgbClr val="5A636E"/>
                </a:solidFill>
              </a:defRPr>
            </a:pPr>
            <a:r>
              <a:t>Um módulo por bloco + o topo que conecta tudo pelo barramento 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508760"/>
            <a:ext cx="5318607" cy="221742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508760"/>
            <a:ext cx="5318607" cy="10972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4175" y="1691640"/>
            <a:ext cx="4916271" cy="18516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0D3B66"/>
                </a:solidFill>
              </a:defRPr>
            </a:pPr>
            <a:r>
              <a:t>Barramento por mux</a:t>
            </a:r>
          </a:p>
          <a:p>
            <a:pPr>
              <a:spcAft>
                <a:spcPts val="0"/>
              </a:spcAft>
              <a:defRPr sz="1400" b="0" i="0">
                <a:solidFill>
                  <a:srgbClr val="5A636E"/>
                </a:solidFill>
              </a:defRPr>
            </a:pPr>
            <a:r>
              <a:t>Em vez de tri-state interno — robusto e sintetizável em FPGA.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00500"/>
            <a:ext cx="5318607" cy="221742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000500"/>
            <a:ext cx="5318607" cy="10972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83380"/>
            <a:ext cx="4916271" cy="18516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0D3B66"/>
                </a:solidFill>
              </a:defRPr>
            </a:pPr>
            <a:r>
              <a:t>HLT por clock-enable</a:t>
            </a:r>
          </a:p>
          <a:p>
            <a:pPr>
              <a:spcAft>
                <a:spcPts val="0"/>
              </a:spcAft>
              <a:defRPr sz="1400" b="0" i="0">
                <a:solidFill>
                  <a:srgbClr val="5A636E"/>
                </a:solidFill>
              </a:defRPr>
            </a:pPr>
            <a:r>
              <a:t>Congela a FSM sem desligar o clock (evita gating de clock).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4000500"/>
            <a:ext cx="5318607" cy="221742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4000500"/>
            <a:ext cx="5318607" cy="10972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4175" y="4183380"/>
            <a:ext cx="4916271" cy="18516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0D3B66"/>
                </a:solidFill>
              </a:defRPr>
            </a:pPr>
            <a:r>
              <a:t>Reset seguro</a:t>
            </a:r>
          </a:p>
          <a:p>
            <a:pPr>
              <a:spcAft>
                <a:spcPts val="0"/>
              </a:spcAft>
              <a:defRPr sz="1400" b="0" i="0">
                <a:solidFill>
                  <a:srgbClr val="5A636E"/>
                </a:solidFill>
              </a:defRPr>
            </a:pPr>
            <a:r>
              <a:t>Assíncrono no assert, sincronizado no desassert.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VALIDAÇÃO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Verificação por simulação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Simulação no ModelSim, com testbenches próprios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14 testbenches autoverificáveis: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um por componente (PC, MAR, ULA, controlador, …)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+ um de integração, que roda um programa e confere o resultado final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Resultado: todos passam (PASSOU · 0 erros)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658368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623560"/>
            <a:ext cx="109728" cy="65836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669280"/>
            <a:ext cx="1042416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>
              <a:spcAft>
                <a:spcPts val="0"/>
              </a:spcAft>
              <a:defRPr sz="1500" b="1" i="0">
                <a:solidFill>
                  <a:srgbClr val="0D3B66"/>
                </a:solidFill>
              </a:defRPr>
            </a:pPr>
            <a:r>
              <a:t>Chave:  Verificação automatizada — 14/14 testbenches aprovados.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VALIDAÇÃO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Execução na placa — DE10-Lite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6634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Roda na FPGA Intel MAX 10, com clock lento (~1 Hz) para dar para ver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Displays de 7 segmentos mostram o funcionamento interno: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HEX5 = estado (1–6) · HEX4 = instrução · HEX3-2 = A · HEX1-0 = resultado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Modo passo a passo por botão (avança um estado por vez)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VALIDAÇÃO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Programas testados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645920"/>
          <a:ext cx="1033272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931920"/>
                <a:gridCol w="2194560"/>
              </a:tblGrid>
              <a:tr h="9144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Programa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Técnica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Resultado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3³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Potência por somas repetidas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27  (0x1B)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(((7+3)−2)+5)−4 +7−3+5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Soma/subtração encadeadas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18  (0x12)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3 ×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Multiplicação por somas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12  (0x0C)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12 ÷ 4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Divisão por subtrações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B2631"/>
                          </a:solidFill>
                        </a:defRPr>
                      </a:pPr>
                      <a:r>
                        <a:t>3  (0x03)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Conclusão e trabalhos futuros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Implementamos um processador completo, do zero, em Verilog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Entendemos a arquitetura (datapath, FSM, palavra de controle) e o funcionamento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Verificado por simulação e validado na placa real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Trabalhos futuros: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instrução de escrita (STA), desvios (JMP) para laços, rumo ao SAP-2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658368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623560"/>
            <a:ext cx="109728" cy="65836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669280"/>
            <a:ext cx="1042416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>
              <a:spcAft>
                <a:spcPts val="0"/>
              </a:spcAft>
              <a:defRPr sz="1500" b="1" i="0">
                <a:solidFill>
                  <a:srgbClr val="0D3B66"/>
                </a:solidFill>
              </a:defRPr>
            </a:pPr>
            <a:r>
              <a:t>Chave:  Teoria + implementação + verificação + placa: o SAP-1 completo.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468880"/>
            <a:ext cx="10515600" cy="1371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5200" b="1" i="0">
                <a:solidFill>
                  <a:srgbClr val="FFFFFF"/>
                </a:solidFill>
              </a:defRPr>
            </a:pPr>
            <a:r>
              <a:t>Obrigado!</a:t>
            </a:r>
          </a:p>
          <a:p>
            <a:pPr>
              <a:spcAft>
                <a:spcPts val="600"/>
              </a:spcAft>
              <a:defRPr sz="2600" b="0" i="0">
                <a:solidFill>
                  <a:srgbClr val="C7DDF0"/>
                </a:solidFill>
              </a:defRPr>
            </a:pPr>
            <a:r>
              <a:t>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