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Apresentem-se, digam a disciplina e que vao mostrar a arquitetura completa do processador SAP-1 e sua implementacao, em 3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Apresentem rapidamente o roteiro: 3 partes. Cada um diz o que vai cobrir. Isso da uma visao geral antes de entrar nos detalhes.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Contextualizem: o SAP-1 e o processador mais simples que ainda e um computador de verdade. Apesar de simples, ele tem os mesmos principios de um processador real: busca, decodifica e executa instrucoes.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Nossos objetivos foram quatro: entender a arquitetura, implementar em Verilog, verificar por simulacao e, por fim, rodar na placa fisica. Vamos seguir mais ou menos essa ordem na apresentacao.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as especificacoes em numeros. O ponto principal: tudo e de 8 bits, memoria pequena de 16 posicoes, dois registradores de dados e apenas 5 instrucoes. Tudo conversa por um unico barramento.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 o mapa da arquitetura. No centro, o barramento. Em cima, busca e memoria: PC, MAR, RAM, IR. Embaixo, aritmetica: acumulador, ULA, registrador B, e a saida. A direita, a unidade de controle. As setas vermelhas sao os sinais de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barramento e a espinha dorsal. Como e um fio so, so um bloco pode escrever por vez. Os sinais de controle sao justamente os 'enables' de falar e ouvir. Passo para a Pessoa 2 detalhar cada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tres registradores cuidam do fluxo. O PC aponta pra proxima instrucao, o MAR aponta pra memoria, e o IR guarda a instrucao atual, separando em opcode e operando. Juntos, eles fazem o processador saber o que executar e de 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memoria guarda 16 palavras. Ponto que confunde: o operando de uma instrucao e um endereco, nao um valor. 'LDA 11' carrega o que esta guardado no endereco 11. Isso e enderecamento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 o coracao aritmetico. O acumulador A guarda as contas, o B guarda o segundo numero, e a ULA soma ou subtrai. A ULA e combinacional: nao armazena, so mostra o resultado, que vai pro barramento quando o Eu liga.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detalhe de implementacao que vale mostrar: cinco dos nossos blocos sao o mesmo circuito de registrador. Ele reseta de forma assincrona, carrega do barramento quando o sinal de carga esta ativo, e senao mantem o valor. Muda so a largura e o nome do sinal. Isso deixou o codigo limpo e reutilizavel.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Sao 5 instrucoes. LDA carrega da memoria, ADD e SUB fazem aritmetica, OUT mostra o resultado e HLT para. Note que cada uma usa um numero diferente de estados uteis, mas todas ocupam os 6 estados de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instrucao leva 6 passos. Os tres primeiros sao a busca, sempre iguais. Os tres ultimos sao a execucao, que muda conforme a instrucao. Ha um cuidado de temporizacao: os estados avancam na descida do clock, e os registradores carregam na subida, pra tudo ficar estavel.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unidade de controle e, na pratica, esta maquina de estados: um contador de anel que percorre T1 a T6 e volta. O reset entra no IDLE e o HLT congela no T4. Cada estado corresponde a uma acao no datapath.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sai da maquina de estados e a palavra de controle: 12 bits que dizem, a cada estado, o que cada bloco faz. Alguns sinais sao ativos em baixo. E o mais importante: essa palavra depende so do estado e da instrucao, nunca do dado. Por isso o comportamento e sempre previsivel, deterministico.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diagrama mostra a fase de execucao de cada instrucao. A busca, em azul, e sempre igual. A execucao, em verde, muda: LDA carrega o acumulador, ADD e SUB usam a ULA, OUT manda pra saida e HLT para.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juntar tudo num exemplo real: o ADD. Cada linha e um estado, com os sinais que ligam e a transferencia que acontece no barramento. Nos tres primeiros ele busca; no T4 acha o dado; no T5 carrega o B; e no T6 soma. Seis passos e a soma esta feita.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implementacao, cada bloco virou um modulo Verilog. Tomamos cuidado com boas praticas de projeto digital: barramento por multiplexador, HLT por clock-enable em vez de desligar o clock, e um reset bem tratado. Isso deixa o projeto robusto.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Nao confiamos so no olho: cada bloco tem um teste automatico que diz PASSOU ou FALHOU. Sao 14 testes no total, incluindo um que roda um programa inteiro e confere o resultado. Todos passam - isso da seguranca de que o processador esta correto.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roda na placa fisica. O clock e bem lento pra dar pra ver acontecendo. Os seis displays mostram o estado, a instrucao, o acumulador e o resultado. Da pra avancar passo a passo com um botao. Se possivel, facam a demonstracao ao vivo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Testamos com quatro programas. Como o SAP-1 so soma e subtrai, fazemos multiplicacao com somas repetidas e divisao com subtracoes. Todos deram o resultado esperado, tanto na simulacao quanto na placa.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concluir: construimos um processador inteiro e entendemos tanto a arquitetura quanto o funcionamento. Usamos boas praticas, verificamos com testes automaticos e validamos na placa. Foi um projeto que uniu teoria e pratica.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evolucao, o SAP-1 pode ganhar uma instrucao de escrita, desvios pra fazer lacos de verdade, e mais instrucoes - o proximo passo seria o SAP-2. Tambem daria pra fazer a analise de timing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Nossas referencias principais: o livro do Malvino, onde o SAP-1 e definido; a documentacao do Quartus e da placa DE10-Lite; e o padrao da linguagem Verilog.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Agradecam e abram para perguntas. Tenham a cola e o glossario (docs/) a mao para duvidas tecnicas.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1042416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8FB8DE"/>
                </a:solidFill>
              </a:defRPr>
            </a:pPr>
            <a:r>
              <a:t>ARQUITETURA DE COMPUTADORES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1737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400"/>
              </a:spcAft>
              <a:defRPr sz="4800" b="1" i="0">
                <a:solidFill>
                  <a:srgbClr val="FFFFFF"/>
                </a:solidFill>
              </a:defRPr>
            </a:pPr>
            <a:r>
              <a:t>SAP-1 — Simple-As-Possible</a:t>
            </a:r>
          </a:p>
          <a:p>
            <a:pPr>
              <a:spcAft>
                <a:spcPts val="600"/>
              </a:spcAft>
              <a:defRPr sz="2000" b="0" i="0">
                <a:solidFill>
                  <a:srgbClr val="C7DDF0"/>
                </a:solidFill>
              </a:defRPr>
            </a:pPr>
            <a:r>
              <a:t>Arquitetura e implementação de um processador de 8 bits em Verilog · FPGA DE10-Lite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977639"/>
            <a:ext cx="3840480" cy="4114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206240"/>
            <a:ext cx="10515600" cy="1554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400"/>
              </a:spcAft>
              <a:defRPr sz="1800" b="0" i="0">
                <a:solidFill>
                  <a:srgbClr val="FFFFFF"/>
                </a:solidFill>
              </a:defRPr>
            </a:pPr>
            <a:r>
              <a:t>Integrante 1  ·  [nome]</a:t>
            </a:r>
          </a:p>
          <a:p>
            <a:pPr>
              <a:spcAft>
                <a:spcPts val="400"/>
              </a:spcAft>
              <a:defRPr sz="1800" b="0" i="0">
                <a:solidFill>
                  <a:srgbClr val="FFFFFF"/>
                </a:solidFill>
              </a:defRPr>
            </a:pPr>
            <a:r>
              <a:t>Integrante 2  ·  [nome]</a:t>
            </a:r>
          </a:p>
          <a:p>
            <a:pPr>
              <a:spcAft>
                <a:spcPts val="400"/>
              </a:spcAft>
              <a:defRPr sz="1800" b="0" i="0">
                <a:solidFill>
                  <a:srgbClr val="FFFFFF"/>
                </a:solidFill>
              </a:defRPr>
            </a:pPr>
            <a:r>
              <a:t>Integrante 3  ·  [nome]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9FB6CC"/>
                </a:solidFill>
              </a:defRPr>
            </a:pPr>
            <a:r>
              <a:t>[Instituição] · [Curso]   · 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2800" b="1" i="0">
                <a:solidFill>
                  <a:srgbClr val="FFFFFF"/>
                </a:solidFill>
              </a:defRPr>
            </a:pPr>
            <a:r>
              <a:t>Sumário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611880" cy="448056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611880" cy="82296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315468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FFFFFF"/>
                </a:solidFill>
              </a:defRPr>
            </a:pPr>
            <a:r>
              <a:t>PARTE 1</a:t>
            </a:r>
          </a:p>
          <a:p>
            <a:pPr>
              <a:spcAft>
                <a:spcPts val="0"/>
              </a:spcAft>
              <a:defRPr sz="1700" b="1" i="0">
                <a:solidFill>
                  <a:srgbClr val="FFFFFF"/>
                </a:solidFill>
              </a:defRPr>
            </a:pPr>
            <a:r>
              <a:t>Introdução e 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51760"/>
            <a:ext cx="315468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O que é o SAP-1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Objetivos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Especificações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Datapath e barramento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77839"/>
            <a:ext cx="315468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1565C0"/>
                </a:solidFill>
              </a:defRPr>
            </a:pPr>
            <a:r>
              <a:t>Pessoa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600200"/>
            <a:ext cx="3611880" cy="448056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7992" y="1600200"/>
            <a:ext cx="3611880" cy="822960"/>
          </a:xfrm>
          <a:prstGeom prst="round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709928"/>
            <a:ext cx="315468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FFFFFF"/>
                </a:solidFill>
              </a:defRPr>
            </a:pPr>
            <a:r>
              <a:t>PARTE 2</a:t>
            </a:r>
          </a:p>
          <a:p>
            <a:pPr>
              <a:spcAft>
                <a:spcPts val="0"/>
              </a:spcAft>
              <a:defRPr sz="1700" b="1" i="0">
                <a:solidFill>
                  <a:srgbClr val="FFFFFF"/>
                </a:solidFill>
              </a:defRPr>
            </a:pPr>
            <a:r>
              <a:t>Componentes e Implementação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651760"/>
            <a:ext cx="315468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PC, MAR, RAM, IR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Acumulador, B e ULA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Padrão de registrador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Saída e controle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5577839"/>
            <a:ext cx="315468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00838F"/>
                </a:solidFill>
              </a:defRPr>
            </a:pPr>
            <a:r>
              <a:t>Pessoa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1600200"/>
            <a:ext cx="3611880" cy="448056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5904" y="1600200"/>
            <a:ext cx="3611880" cy="822960"/>
          </a:xfrm>
          <a:prstGeom prst="round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4504" y="1709928"/>
            <a:ext cx="315468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FFFFFF"/>
                </a:solidFill>
              </a:defRPr>
            </a:pPr>
            <a:r>
              <a:t>PARTE 3</a:t>
            </a:r>
          </a:p>
          <a:p>
            <a:pPr>
              <a:spcAft>
                <a:spcPts val="0"/>
              </a:spcAft>
              <a:defRPr sz="1700" b="1" i="0">
                <a:solidFill>
                  <a:srgbClr val="FFFFFF"/>
                </a:solidFill>
              </a:defRPr>
            </a:pPr>
            <a:r>
              <a:t>Funcionamento e Resultados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651760"/>
            <a:ext cx="315468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Conjunto de instruções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Ciclo e máquina de estados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Palavra de controle</a:t>
            </a:r>
          </a:p>
          <a:p>
            <a:pPr>
              <a:spcAft>
                <a:spcPts val="600"/>
              </a:spcAft>
              <a:defRPr sz="1350" b="0" i="0">
                <a:solidFill>
                  <a:srgbClr val="1B2631"/>
                </a:solidFill>
              </a:defRPr>
            </a:pPr>
            <a:r>
              <a:t>•  Verificação e placa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5577839"/>
            <a:ext cx="315468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E65C00"/>
                </a:solidFill>
              </a:defRPr>
            </a:pPr>
            <a:r>
              <a:t>Pessoa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PARTE 1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42416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4200" b="1" i="0">
                <a:solidFill>
                  <a:srgbClr val="FFFFFF"/>
                </a:solidFill>
              </a:defRPr>
            </a:pPr>
            <a:r>
              <a:t>Introdução e Arquitetura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3291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0584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 que é o SAP-1 e por que estudá-lo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Objetivos do projeto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Especificações técnicas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 datapath e o barramento 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EEEEEE"/>
                </a:solidFill>
              </a:defRPr>
            </a:pPr>
            <a:r>
              <a:t>Apresenta: Pessoa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O que é o SAP-1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Processador didático de 8 bits, proposto por Albert Malvino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'Simple-As-Possible': o menor computador que ainda executa programas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Arquitetura de Von Neumann — programa e dados na mesma memória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Base para entender processadores reais (busca, decodificação, execução)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Simples o bastante para entender por inteiro; completo o bastante para ensinar como um computador funciona.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Objetivos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663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Compreender a organização interna de um processador (datapath + controle)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Descrever o SAP-1 em Verilog RTL, módulo a módulo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Verificar o funcionamento por simulação (testbenches)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Sintetizar e executar na FPGA DE10-Lite, com saída visível nos displays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Especificações técnicas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691640"/>
          <a:ext cx="101498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5303520"/>
              </a:tblGrid>
              <a:tr h="57150"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Largura de dados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8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Memória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16 palavras × 8 bits (RAM 16×8)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Endereçamento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4 bits (direto)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Registradores de dados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Acumulador A e Registrador 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Soma e subtração (complemento de dois)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Instruções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5 — LDA, ADD, SUB, OUT, HLT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Comunicação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Barramento único de 8 bits (W)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O datapath — diagrama de blocos</a:t>
            </a:r>
          </a:p>
        </p:txBody>
      </p:sp>
      <p:pic>
        <p:nvPicPr>
          <p:cNvPr id="6" name="Picture 5" descr="data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55" y="1371600"/>
            <a:ext cx="8109585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spcAft>
                <a:spcPts val="0"/>
              </a:spcAft>
              <a:defRPr sz="1300" b="0" i="1">
                <a:solidFill>
                  <a:srgbClr val="5A636E"/>
                </a:solidFill>
              </a:defRPr>
            </a:pPr>
            <a:r>
              <a:t>Blocos ligados ao barramento W. A Unidade de Controle gera os sinais (enables) que coordenam tudo.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O barramento W e os 'enables'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Todos os blocos compartilham um único fio de 8 bits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Sinais de 'falar' (colocam valor no barramento):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Ep (PC) · ~CE (RAM) · ~Ei (operando) · Ea (A) · Eu (ULA)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Sinais de 'ouvir' (copiam do barramento):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~Lm (MAR) · ~Li (IR) · ~La (A) · ~Lb (B) · ~Lo (saída)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Implementado como MULTIPLEXADOR (evita conflito elétrico)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Regra de ouro — um bloco fala, um ou mais ouvem, por estado.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PARTE 2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42416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4200" b="1" i="0">
                <a:solidFill>
                  <a:srgbClr val="FFFFFF"/>
                </a:solidFill>
              </a:defRPr>
            </a:pPr>
            <a:r>
              <a:t>Componentes e Implementação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3291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0584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Os registradores: PC, MAR, IR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A memória RAM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Acumulador, Registrador B e ULA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O padrão de projeto em Verilog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EEEEEE"/>
                </a:solidFill>
              </a:defRPr>
            </a:pPr>
            <a:r>
              <a:t>Apresenta: Pessoa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Registradores de controle de fluxo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18607" cy="1097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9164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PC — Program Counter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Contador de 4 bits com o endereço da PRÓXIMA instrução. Cp incrementa; Ep coloca no barramento.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0876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08760"/>
            <a:ext cx="5318607" cy="1097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169164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MAR — Memory Address Register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Guarda o endereço que a RAM vai ler. Carregado do barramento por ~Lm.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0050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000500"/>
            <a:ext cx="5318607" cy="1097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8338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IR — Instruction Register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Guarda a instrução e a separa: opcode (o quê) e operando (onde). Carregado por ~Li.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400050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4000500"/>
            <a:ext cx="5318607" cy="1097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4175" y="418338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Papel conjunto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PC diz 'qual instrução'; MAR 'aponta' na memória; IR 'segura' a instrução em execução.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RAM 16×8 — a memória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16 posições de 8 bits; guarda programa E dados (Von Neumann)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Somente leitura durante a execução (o SAP-1 básico não tem STA)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Formato de cada palavra:  [ opcode (4 bits) | operando (4 bits) ]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O operando é um ENDEREÇO — endereçamento direto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Ex.: 'LDA 11' → carrega o conteúdo do endereço 11, não o número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Programa nas primeiras posições, dados nas últimas — mas a RAM não distingue: quem decide é a ordem de execução.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Núcleo aritmético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18607" cy="1097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9164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Acumulador A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Registrador principal — é onde a conta acontece. Alimenta a ULA e recebe os resultados. Sai no barramento por 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0876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08760"/>
            <a:ext cx="5318607" cy="1097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169164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Registrador B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Guarda o segundo operando da soma/subtração. Carregado por ~Lb.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0050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000500"/>
            <a:ext cx="5318607" cy="1097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8338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ULA (somador/subtrator)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Combinacional: calcula A ± B. Su=0 soma, Su=1 subtrai (complemento de dois).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400050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4000500"/>
            <a:ext cx="5318607" cy="1097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4175" y="418338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Importante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A ULA não guarda nada — o resultado só vai ao barramento quando Eu está ativo.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Padrão de projeto: o registrador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800" b="0" i="0">
                <a:solidFill>
                  <a:srgbClr val="1B2631"/>
                </a:solidFill>
              </a:defRPr>
            </a:pPr>
            <a:r>
              <a:t>Cinco blocos (MAR, IR, A, B e Saída) são o MESMO circuito — muda só a largura e o sinal de carga: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0835640" cy="3108960"/>
          </a:xfrm>
          <a:prstGeom prst="round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332720" cy="2743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200"/>
              </a:spcAft>
              <a:defRPr sz="1500" b="0" i="0">
                <a:solidFill>
                  <a:srgbClr val="E6EDF3"/>
                </a:solidFill>
                <a:latin typeface="Consolas"/>
              </a:defRPr>
            </a:pPr>
            <a:r>
              <a:t>always @(posedge clk or negedge clr_bar) begin</a:t>
            </a:r>
          </a:p>
          <a:p>
            <a:pPr>
              <a:spcAft>
                <a:spcPts val="200"/>
              </a:spcAft>
              <a:defRPr sz="1500" b="0" i="0">
                <a:solidFill>
                  <a:srgbClr val="E6EDF3"/>
                </a:solidFill>
                <a:latin typeface="Consolas"/>
              </a:defRPr>
            </a:pPr>
            <a:r>
              <a:t>    if (!clr_bar)        q &lt;= 0;        // reset assíncrono</a:t>
            </a:r>
          </a:p>
          <a:p>
            <a:pPr>
              <a:spcAft>
                <a:spcPts val="200"/>
              </a:spcAft>
              <a:defRPr sz="1500" b="0" i="0">
                <a:solidFill>
                  <a:srgbClr val="E6EDF3"/>
                </a:solidFill>
                <a:latin typeface="Consolas"/>
              </a:defRPr>
            </a:pPr>
            <a:r>
              <a:t>    else if (!load_n)    q &lt;= bus_in;   // carrega do barramento</a:t>
            </a:r>
          </a:p>
          <a:p>
            <a:pPr>
              <a:spcAft>
                <a:spcPts val="200"/>
              </a:spcAft>
              <a:defRPr sz="1500" b="0" i="0">
                <a:solidFill>
                  <a:srgbClr val="E6EDF3"/>
                </a:solidFill>
                <a:latin typeface="Consolas"/>
              </a:defRPr>
            </a:pPr>
            <a:r>
              <a:t>    // senão: mantém o valor guardado</a:t>
            </a:r>
          </a:p>
          <a:p>
            <a:pPr>
              <a:spcAft>
                <a:spcPts val="200"/>
              </a:spcAft>
              <a:defRPr sz="1500" b="0" i="0">
                <a:solidFill>
                  <a:srgbClr val="E6EDF3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48640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5486400"/>
            <a:ext cx="109728" cy="6583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3212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Reuso de um mesmo padrão RTL → código mais limpo e menos propenso a erro.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FFFFFF"/>
                </a:solidFill>
              </a:defRPr>
            </a:pPr>
            <a:r>
              <a:t>PARTE 3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42416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4200" b="1" i="0">
                <a:solidFill>
                  <a:srgbClr val="FFFFFF"/>
                </a:solidFill>
              </a:defRPr>
            </a:pPr>
            <a:r>
              <a:t>Funcionamento e Resultados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11880"/>
            <a:ext cx="32918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0584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Conjunto de instruções e ciclo de execução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A máquina de estados e a palavra de controle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Exemplo de execução passo a passo</a:t>
            </a:r>
          </a:p>
          <a:p>
            <a:pPr>
              <a:spcAft>
                <a:spcPts val="700"/>
              </a:spcAft>
              <a:defRPr sz="1800" b="0" i="0">
                <a:solidFill>
                  <a:srgbClr val="FFFFFF"/>
                </a:solidFill>
              </a:defRPr>
            </a:pPr>
            <a:r>
              <a:t>•  Verificação, placa e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EEEEEE"/>
                </a:solidFill>
              </a:defRPr>
            </a:pPr>
            <a:r>
              <a:t>Apresenta: Pessoa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FUNCIONAMENTO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Conjunto de instruções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691640"/>
          <a:ext cx="101498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4206240"/>
                <a:gridCol w="2103120"/>
              </a:tblGrid>
              <a:tr h="76200"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Instrução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Opcode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Operação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Estados úteis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LDA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A ← memória[n]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T1–T5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ADD n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0001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A ← A + memória[n]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T1–T6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SUB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A ← A − memória[n]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T1–T6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OUT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1110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saída ← A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T1–T4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HLT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1111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para o processador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T1–T4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FUNCIONAMENTO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O ciclo de instrução — 6 estados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Toda instrução é executada em 6 estados de tempo (T1 a T6)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Ciclo de BUSCA (T1–T3) — igual para toda instrução: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T1: MAR ← PC    ·    T2: PC ← PC+1    ·    T3: IR ← RAM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Ciclo de EXECUÇÃO (T4–T6) — depende do opcode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Temporização: estados avançam na descida do clock; registradores carregam na subida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Busca (T1–T3) sempre igual; execução (T4–T6) específica de cada instrução.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A máquina de estados (FSM)</a:t>
            </a:r>
          </a:p>
        </p:txBody>
      </p:sp>
      <p:pic>
        <p:nvPicPr>
          <p:cNvPr id="6" name="Picture 5" descr="fs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21" y="1371600"/>
            <a:ext cx="5174253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spcAft>
                <a:spcPts val="0"/>
              </a:spcAft>
              <a:defRPr sz="1300" b="0" i="1">
                <a:solidFill>
                  <a:srgbClr val="5A636E"/>
                </a:solidFill>
              </a:defRPr>
            </a:pPr>
            <a:r>
              <a:t>Contador de anel IDLE → T1 → … → T6 → T1. O reset entra em IDLE; o HLT congela em T4.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A palavra de controle (12 bits)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A cada estado, o controlador gera 12 sinais de uma vez (a palavra CON)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Cada bit liga/desliga um bloco (falar ou ouvir no barramento)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Ativos-alto (1 = liga):  Cp  Ep  Ea  Su  Eu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Ativos-baixo (0 = liga):  ~Lm  ~CE  ~Li  ~Ei  ~La  ~Lb  ~Lo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Depende apenas do estado e do opcode — nunca do dado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A palavra de controle é a 'receita' de cada estado — determinística.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CONTROLE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Microoperações por instrução</a:t>
            </a:r>
          </a:p>
        </p:txBody>
      </p:sp>
      <p:pic>
        <p:nvPicPr>
          <p:cNvPr id="6" name="Picture 5" descr="fsm_exec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452" y="1371600"/>
            <a:ext cx="535679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spcAft>
                <a:spcPts val="0"/>
              </a:spcAft>
              <a:defRPr sz="1300" b="0" i="1">
                <a:solidFill>
                  <a:srgbClr val="5A636E"/>
                </a:solidFill>
              </a:defRPr>
            </a:pPr>
            <a:r>
              <a:t>Busca (azul) igual para todas; execução (verde) específica. Cada coluna é uma instrução.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FUNCIONAMENTO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Exemplo de execução: ADD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691640"/>
          <a:ext cx="101498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5486400"/>
              </a:tblGrid>
              <a:tr h="65314"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Sinais ativos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Transferência no barramento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Ep, ~Lm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MAR ← 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Cp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PC ← PC + 1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~CE, ~Li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IR ← RAM (a instrução ADD)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~Ei, ~Lm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MAR ← operando (endereço do dado)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~CE, ~Lb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B ← RAM (o dado)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Eu, ~La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A ← A + B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Implementação em Verilog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318607" cy="10972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9164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11 módulos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Um módulo por bloco (PC, MAR, RAM, IR, A, B, ULA, saída, controle…) mais o topo que conecta tudo pelo barramento.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0876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08760"/>
            <a:ext cx="5318607" cy="10972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169164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Barramento por mux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Em vez de tri-state interno — mais robusto e sintetizável em FPGA.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0050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000500"/>
            <a:ext cx="5318607" cy="10972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8338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HLT por clock-enable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Congela o contador de anel sem desligar o clock (evita gating de clock).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4000500"/>
            <a:ext cx="5318607" cy="2217420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4000500"/>
            <a:ext cx="5318607" cy="10972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4175" y="4183380"/>
            <a:ext cx="4916271" cy="18516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500"/>
              </a:spcAft>
              <a:defRPr sz="1700" b="1" i="0">
                <a:solidFill>
                  <a:srgbClr val="0D3B66"/>
                </a:solidFill>
              </a:defRPr>
            </a:pPr>
            <a:r>
              <a:t>Reset seguro</a:t>
            </a:r>
          </a:p>
          <a:p>
            <a:pPr>
              <a:spcAft>
                <a:spcPts val="0"/>
              </a:spcAft>
              <a:defRPr sz="1400" b="0" i="0">
                <a:solidFill>
                  <a:srgbClr val="5A636E"/>
                </a:solidFill>
              </a:defRPr>
            </a:pPr>
            <a:r>
              <a:t>Assíncrono no assert, sincronizado no desassert (sem violação de recovery/removal).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Verificação por simulação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Simulação no ModelSim, com testbenches próprios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14 testbenches autoverificáveis: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um por componente (PC, MAR, ULA, controlador, …)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+ um de integração, que roda um programa e confere o resultado final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Resultado: todos passam (PASSOU · 0 erros)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23560"/>
            <a:ext cx="10835640" cy="658368"/>
          </a:xfrm>
          <a:prstGeom prst="round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109728" cy="65836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69280"/>
            <a:ext cx="10424160" cy="56692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>
              <a:spcAft>
                <a:spcPts val="0"/>
              </a:spcAft>
              <a:defRPr sz="1500" b="1" i="0">
                <a:solidFill>
                  <a:srgbClr val="0D3B66"/>
                </a:solidFill>
              </a:defRPr>
            </a:pPr>
            <a:r>
              <a:t>Chave:  Verificação automatizada — 14/14 testbenches aprovados.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Execução na placa — DE10-Lite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663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Roda de verdade na FPGA Intel MAX 10, com clock lento (~1 Hz)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Displays de 7 segmentos revelam o funcionamento interno: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HEX5 = estado (1–6)   ·   HEX4 = instrução (L/A/5/o/H)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HEX3-2 = acumulador A   ·   HEX1-0 = resultado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Modo passo a passo por botão — avança um estado de cada vez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Programas de teste executados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691640"/>
          <a:ext cx="103327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931920"/>
                <a:gridCol w="2194560"/>
              </a:tblGrid>
              <a:tr h="91440"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Programa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Técnica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3³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Potência por somas repetidas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27  (0x1B)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(((7+3)−2)+5)−4 +7−3+5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Soma/subtração encadeadas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18  (0x12)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3 ×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Multiplicação por somas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12  (0x0C)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12 ÷ 4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Divisão por subtrações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B2631"/>
                          </a:solidFill>
                        </a:defRPr>
                      </a:pPr>
                      <a:r>
                        <a:t>3  (0x03)</a:t>
                      </a:r>
                    </a:p>
                  </a:txBody>
                  <a:tcPr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663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Implementamos um processador completo, do zero, em Verilog RTL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Cobrimos a arquitetura (datapath, barramento, controle) e o funcionamento (busca–execução, palavra de controle)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Aplicamos boas práticas de projeto digital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Verificado por simulação e validado na placa real</a:t>
            </a:r>
          </a:p>
          <a:p>
            <a:pPr lvl="1">
              <a:spcAft>
                <a:spcPts val="1000"/>
              </a:spcAft>
              <a:defRPr sz="1700" b="0" i="0">
                <a:solidFill>
                  <a:srgbClr val="5A636E"/>
                </a:solidFill>
              </a:defRPr>
            </a:pPr>
            <a:r>
              <a:t>–  O SAP-1 mostra, de forma tangível, como um computador realmente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Trabalhos futuros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663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Instrução de escrita na memória (STA) → programas que alteram dados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Instruções de desvio (JMP / JZ) → laços e decisões reais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Ampliar memória e conjunto de instruções (rumo ao SAP-2)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Otimização de temporização e relatório de Fmax (análise de timing)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0584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200" b="1" i="0">
                <a:solidFill>
                  <a:srgbClr val="8FB8DE"/>
                </a:solidFill>
              </a:defRPr>
            </a:pPr>
            <a: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2600" b="1" i="0">
                <a:solidFill>
                  <a:srgbClr val="FFFFFF"/>
                </a:solidFill>
              </a:defRPr>
            </a:pPr>
            <a:r>
              <a:t>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6634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MALVINO, A. P.; BROWN, J. A. Eletrônica Digital / Digital Computer Electronics. 3ª ed. — capítulo do SAP-1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INTEL. Quartus Prime Lite 20.1 — documentação e guias de uso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TERASIC. DE10-Lite User Manual (FPGA Intel MAX 10 10M50DAF484C7G)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1B2631"/>
                </a:solidFill>
              </a:defRPr>
            </a:pPr>
            <a:r>
              <a:t>▸  IEEE Std 1364 — linguagem Verilog HDL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SAP-1  ·  Arquitetura de Computadores  ·  Pessoa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17320" cy="320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r">
              <a:spcAft>
                <a:spcPts val="0"/>
              </a:spcAft>
              <a:defRPr sz="1050" b="0" i="0">
                <a:solidFill>
                  <a:srgbClr val="5A636E"/>
                </a:solidFill>
              </a:defRPr>
            </a:pPr>
            <a: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515600" cy="1371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spcAft>
                <a:spcPts val="600"/>
              </a:spcAft>
              <a:defRPr sz="5200" b="1" i="0">
                <a:solidFill>
                  <a:srgbClr val="FFFFFF"/>
                </a:solidFill>
              </a:defRPr>
            </a:pPr>
            <a:r>
              <a:t>Obrigado!</a:t>
            </a:r>
          </a:p>
          <a:p>
            <a:pPr>
              <a:spcAft>
                <a:spcPts val="600"/>
              </a:spcAft>
              <a:defRPr sz="2600" b="0" i="0">
                <a:solidFill>
                  <a:srgbClr val="C7DDF0"/>
                </a:solidFill>
              </a:defRPr>
            </a:pPr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